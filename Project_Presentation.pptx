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Inter Medium" charset="1" panose="02000503000000020004"/>
      <p:regular r:id="rId18"/>
    </p:embeddedFont>
    <p:embeddedFont>
      <p:font typeface="Inter Bold" charset="1" panose="02000503000000020004"/>
      <p:regular r:id="rId23"/>
    </p:embeddedFont>
    <p:embeddedFont>
      <p:font typeface="DM San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346552"/>
            <a:ext cx="9445523" cy="268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G17 – Fine-Tune a Small LLM with LoRA/PEFT + Simple Agent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372520"/>
            <a:ext cx="9445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Mayank Garg — 2023UAI1797  |  Rishabh Kumar — 2023UAI1803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961434"/>
            <a:ext cx="6025010" cy="77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9"/>
              </a:lnSpc>
            </a:pPr>
            <a:r>
              <a:rPr lang="en-US" sz="47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1983581"/>
            <a:ext cx="9445523" cy="112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Large AI coding assistants require expensive hardware and cloud infrastructure — making local deployment difficult for students and developers with limited resources.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50238" y="3340894"/>
            <a:ext cx="9445523" cy="1337815"/>
            <a:chOff x="0" y="0"/>
            <a:chExt cx="12594031" cy="17837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4082" cy="1783842"/>
            </a:xfrm>
            <a:custGeom>
              <a:avLst/>
              <a:gdLst/>
              <a:ahLst/>
              <a:cxnLst/>
              <a:rect r="r" b="b" t="t" l="l"/>
              <a:pathLst>
                <a:path h="1783842" w="12594082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2545822" y="0"/>
                  </a:lnTo>
                  <a:cubicBezTo>
                    <a:pt x="12572492" y="0"/>
                    <a:pt x="12594082" y="21590"/>
                    <a:pt x="12594082" y="48260"/>
                  </a:cubicBezTo>
                  <a:lnTo>
                    <a:pt x="12594082" y="1735582"/>
                  </a:lnTo>
                  <a:cubicBezTo>
                    <a:pt x="12594082" y="1762252"/>
                    <a:pt x="12572492" y="1783842"/>
                    <a:pt x="12545822" y="1783842"/>
                  </a:cubicBezTo>
                  <a:lnTo>
                    <a:pt x="48260" y="1783842"/>
                  </a:lnTo>
                  <a:cubicBezTo>
                    <a:pt x="21590" y="1783842"/>
                    <a:pt x="0" y="1762252"/>
                    <a:pt x="0" y="173558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91192" y="3562798"/>
            <a:ext cx="3556692" cy="39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Fine-Tune Compact LLM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91192" y="4024017"/>
            <a:ext cx="8963616" cy="41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Optimize a small model for coding tasks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850238" y="4883496"/>
            <a:ext cx="9445523" cy="1337815"/>
            <a:chOff x="0" y="0"/>
            <a:chExt cx="12594031" cy="17837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94082" cy="1783842"/>
            </a:xfrm>
            <a:custGeom>
              <a:avLst/>
              <a:gdLst/>
              <a:ahLst/>
              <a:cxnLst/>
              <a:rect r="r" b="b" t="t" l="l"/>
              <a:pathLst>
                <a:path h="1783842" w="12594082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2545822" y="0"/>
                  </a:lnTo>
                  <a:cubicBezTo>
                    <a:pt x="12572492" y="0"/>
                    <a:pt x="12594082" y="21590"/>
                    <a:pt x="12594082" y="48260"/>
                  </a:cubicBezTo>
                  <a:lnTo>
                    <a:pt x="12594082" y="1735582"/>
                  </a:lnTo>
                  <a:cubicBezTo>
                    <a:pt x="12594082" y="1762252"/>
                    <a:pt x="12572492" y="1783842"/>
                    <a:pt x="12545822" y="1783842"/>
                  </a:cubicBezTo>
                  <a:lnTo>
                    <a:pt x="48260" y="1783842"/>
                  </a:lnTo>
                  <a:cubicBezTo>
                    <a:pt x="21590" y="1783842"/>
                    <a:pt x="0" y="1762252"/>
                    <a:pt x="0" y="173558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091192" y="5105400"/>
            <a:ext cx="3796313" cy="39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Reduce Cost &amp; GPU Usage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91192" y="5566620"/>
            <a:ext cx="8963616" cy="41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Enable training on limited hardware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50238" y="6426098"/>
            <a:ext cx="9445523" cy="1337815"/>
            <a:chOff x="0" y="0"/>
            <a:chExt cx="12594031" cy="17837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94082" cy="1783842"/>
            </a:xfrm>
            <a:custGeom>
              <a:avLst/>
              <a:gdLst/>
              <a:ahLst/>
              <a:cxnLst/>
              <a:rect r="r" b="b" t="t" l="l"/>
              <a:pathLst>
                <a:path h="1783842" w="12594082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2545822" y="0"/>
                  </a:lnTo>
                  <a:cubicBezTo>
                    <a:pt x="12572492" y="0"/>
                    <a:pt x="12594082" y="21590"/>
                    <a:pt x="12594082" y="48260"/>
                  </a:cubicBezTo>
                  <a:lnTo>
                    <a:pt x="12594082" y="1735582"/>
                  </a:lnTo>
                  <a:cubicBezTo>
                    <a:pt x="12594082" y="1762252"/>
                    <a:pt x="12572492" y="1783842"/>
                    <a:pt x="12545822" y="1783842"/>
                  </a:cubicBezTo>
                  <a:lnTo>
                    <a:pt x="48260" y="1783842"/>
                  </a:lnTo>
                  <a:cubicBezTo>
                    <a:pt x="21590" y="1783842"/>
                    <a:pt x="0" y="1762252"/>
                    <a:pt x="0" y="173558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091192" y="6648002"/>
            <a:ext cx="3012434" cy="39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Lightweight Agent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91192" y="7109222"/>
            <a:ext cx="8963616" cy="41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Build an agent-based local workflow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50238" y="7968701"/>
            <a:ext cx="9445523" cy="1337815"/>
            <a:chOff x="0" y="0"/>
            <a:chExt cx="12594031" cy="17837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94082" cy="1783842"/>
            </a:xfrm>
            <a:custGeom>
              <a:avLst/>
              <a:gdLst/>
              <a:ahLst/>
              <a:cxnLst/>
              <a:rect r="r" b="b" t="t" l="l"/>
              <a:pathLst>
                <a:path h="1783842" w="12594082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2545822" y="0"/>
                  </a:lnTo>
                  <a:cubicBezTo>
                    <a:pt x="12572492" y="0"/>
                    <a:pt x="12594082" y="21590"/>
                    <a:pt x="12594082" y="48260"/>
                  </a:cubicBezTo>
                  <a:lnTo>
                    <a:pt x="12594082" y="1735582"/>
                  </a:lnTo>
                  <a:cubicBezTo>
                    <a:pt x="12594082" y="1762252"/>
                    <a:pt x="12572492" y="1783842"/>
                    <a:pt x="12545822" y="1783842"/>
                  </a:cubicBezTo>
                  <a:lnTo>
                    <a:pt x="48260" y="1783842"/>
                  </a:lnTo>
                  <a:cubicBezTo>
                    <a:pt x="21590" y="1783842"/>
                    <a:pt x="0" y="1762252"/>
                    <a:pt x="0" y="173558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091192" y="8190605"/>
            <a:ext cx="3429295" cy="39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Better Code Assistance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91192" y="8651824"/>
            <a:ext cx="8963616" cy="41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Improve explanation &amp; instruction following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5249" y="716909"/>
            <a:ext cx="5537749" cy="72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3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Proposed Solution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5249" y="1891903"/>
            <a:ext cx="10690174" cy="6414049"/>
            <a:chOff x="0" y="0"/>
            <a:chExt cx="14253566" cy="855206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4253590" cy="8552053"/>
            </a:xfrm>
            <a:custGeom>
              <a:avLst/>
              <a:gdLst/>
              <a:ahLst/>
              <a:cxnLst/>
              <a:rect r="r" b="b" t="t" l="l"/>
              <a:pathLst>
                <a:path h="8552053" w="14253590">
                  <a:moveTo>
                    <a:pt x="0" y="0"/>
                  </a:moveTo>
                  <a:lnTo>
                    <a:pt x="14253590" y="0"/>
                  </a:lnTo>
                  <a:lnTo>
                    <a:pt x="14253590" y="8552053"/>
                  </a:lnTo>
                  <a:lnTo>
                    <a:pt x="0" y="8552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" t="0" r="-1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15187" y="4125811"/>
            <a:ext cx="2768794" cy="37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Core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15187" y="4541044"/>
            <a:ext cx="2913459" cy="37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Assistant Capabilities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15187" y="5050479"/>
            <a:ext cx="5506936" cy="110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400"/>
              </a:lnSpc>
              <a:buFont typeface="Arial"/>
              <a:buChar char="•"/>
            </a:pPr>
            <a:r>
              <a:rPr lang="en-US" b="true" sz="1700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Explain code &amp; suggest refactors</a:t>
            </a:r>
          </a:p>
          <a:p>
            <a:pPr algn="l" marL="410210" indent="-205105" lvl="1">
              <a:lnSpc>
                <a:spcPts val="2400"/>
              </a:lnSpc>
              <a:buFont typeface="Arial"/>
              <a:buChar char="•"/>
            </a:pPr>
            <a:r>
              <a:rPr lang="en-US" b="true" sz="1700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Generate helper functions</a:t>
            </a:r>
          </a:p>
          <a:p>
            <a:pPr algn="l" marL="410210" indent="-205105" lvl="1">
              <a:lnSpc>
                <a:spcPts val="2400"/>
              </a:lnSpc>
              <a:buFont typeface="Arial"/>
              <a:buChar char="•"/>
            </a:pPr>
            <a:r>
              <a:rPr lang="en-US" b="true" sz="1700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Understand repository context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0962" y="8680999"/>
            <a:ext cx="4083253" cy="874662"/>
            <a:chOff x="0" y="0"/>
            <a:chExt cx="5444338" cy="1166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5406263" cy="1128141"/>
            </a:xfrm>
            <a:custGeom>
              <a:avLst/>
              <a:gdLst/>
              <a:ahLst/>
              <a:cxnLst/>
              <a:rect r="r" b="b" t="t" l="l"/>
              <a:pathLst>
                <a:path h="1128141" w="5406263">
                  <a:moveTo>
                    <a:pt x="0" y="44323"/>
                  </a:moveTo>
                  <a:cubicBezTo>
                    <a:pt x="0" y="19812"/>
                    <a:pt x="20320" y="0"/>
                    <a:pt x="45466" y="0"/>
                  </a:cubicBezTo>
                  <a:lnTo>
                    <a:pt x="5360797" y="0"/>
                  </a:lnTo>
                  <a:cubicBezTo>
                    <a:pt x="5385943" y="0"/>
                    <a:pt x="5406263" y="19812"/>
                    <a:pt x="5406263" y="44323"/>
                  </a:cubicBezTo>
                  <a:lnTo>
                    <a:pt x="5406263" y="1083818"/>
                  </a:lnTo>
                  <a:cubicBezTo>
                    <a:pt x="5406263" y="1108329"/>
                    <a:pt x="5385943" y="1128141"/>
                    <a:pt x="5360797" y="1128141"/>
                  </a:cubicBezTo>
                  <a:lnTo>
                    <a:pt x="45466" y="1128141"/>
                  </a:lnTo>
                  <a:cubicBezTo>
                    <a:pt x="20320" y="1128141"/>
                    <a:pt x="0" y="1108329"/>
                    <a:pt x="0" y="10838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44363" cy="1166241"/>
            </a:xfrm>
            <a:custGeom>
              <a:avLst/>
              <a:gdLst/>
              <a:ahLst/>
              <a:cxnLst/>
              <a:rect r="r" b="b" t="t" l="l"/>
              <a:pathLst>
                <a:path h="1166241" w="5444363">
                  <a:moveTo>
                    <a:pt x="0" y="63373"/>
                  </a:moveTo>
                  <a:cubicBezTo>
                    <a:pt x="0" y="27940"/>
                    <a:pt x="29337" y="0"/>
                    <a:pt x="64516" y="0"/>
                  </a:cubicBezTo>
                  <a:lnTo>
                    <a:pt x="5379847" y="0"/>
                  </a:lnTo>
                  <a:lnTo>
                    <a:pt x="5379847" y="19050"/>
                  </a:lnTo>
                  <a:lnTo>
                    <a:pt x="5379847" y="0"/>
                  </a:lnTo>
                  <a:cubicBezTo>
                    <a:pt x="5415026" y="0"/>
                    <a:pt x="5444363" y="27940"/>
                    <a:pt x="5444363" y="63373"/>
                  </a:cubicBezTo>
                  <a:lnTo>
                    <a:pt x="5425313" y="63373"/>
                  </a:lnTo>
                  <a:lnTo>
                    <a:pt x="5444363" y="63373"/>
                  </a:lnTo>
                  <a:lnTo>
                    <a:pt x="5444363" y="1102868"/>
                  </a:lnTo>
                  <a:lnTo>
                    <a:pt x="5425313" y="1102868"/>
                  </a:lnTo>
                  <a:lnTo>
                    <a:pt x="5444363" y="1102868"/>
                  </a:lnTo>
                  <a:cubicBezTo>
                    <a:pt x="5444363" y="1138301"/>
                    <a:pt x="5415026" y="1166241"/>
                    <a:pt x="5379847" y="1166241"/>
                  </a:cubicBezTo>
                  <a:lnTo>
                    <a:pt x="5379847" y="1147191"/>
                  </a:lnTo>
                  <a:lnTo>
                    <a:pt x="5379847" y="1166241"/>
                  </a:lnTo>
                  <a:lnTo>
                    <a:pt x="64516" y="1166241"/>
                  </a:lnTo>
                  <a:lnTo>
                    <a:pt x="64516" y="1147191"/>
                  </a:lnTo>
                  <a:lnTo>
                    <a:pt x="64516" y="1166241"/>
                  </a:lnTo>
                  <a:cubicBezTo>
                    <a:pt x="29337" y="1166241"/>
                    <a:pt x="0" y="1138301"/>
                    <a:pt x="0" y="1102868"/>
                  </a:cubicBezTo>
                  <a:lnTo>
                    <a:pt x="0" y="63373"/>
                  </a:lnTo>
                  <a:lnTo>
                    <a:pt x="19050" y="63373"/>
                  </a:lnTo>
                  <a:lnTo>
                    <a:pt x="0" y="63373"/>
                  </a:lnTo>
                  <a:moveTo>
                    <a:pt x="38100" y="63373"/>
                  </a:moveTo>
                  <a:lnTo>
                    <a:pt x="38100" y="1102868"/>
                  </a:lnTo>
                  <a:lnTo>
                    <a:pt x="19050" y="1102868"/>
                  </a:lnTo>
                  <a:lnTo>
                    <a:pt x="38100" y="1102868"/>
                  </a:lnTo>
                  <a:cubicBezTo>
                    <a:pt x="38100" y="1116330"/>
                    <a:pt x="49403" y="1128141"/>
                    <a:pt x="64516" y="1128141"/>
                  </a:cubicBezTo>
                  <a:lnTo>
                    <a:pt x="5379847" y="1128141"/>
                  </a:lnTo>
                  <a:cubicBezTo>
                    <a:pt x="5394960" y="1128141"/>
                    <a:pt x="5406263" y="1116330"/>
                    <a:pt x="5406263" y="1102868"/>
                  </a:cubicBezTo>
                  <a:lnTo>
                    <a:pt x="5406263" y="63373"/>
                  </a:lnTo>
                  <a:cubicBezTo>
                    <a:pt x="5406263" y="49911"/>
                    <a:pt x="5394960" y="38100"/>
                    <a:pt x="5379847" y="38100"/>
                  </a:cubicBezTo>
                  <a:lnTo>
                    <a:pt x="64516" y="38100"/>
                  </a:lnTo>
                  <a:lnTo>
                    <a:pt x="64516" y="19050"/>
                  </a:lnTo>
                  <a:lnTo>
                    <a:pt x="64516" y="38100"/>
                  </a:lnTo>
                  <a:cubicBezTo>
                    <a:pt x="49403" y="38100"/>
                    <a:pt x="38100" y="49911"/>
                    <a:pt x="38100" y="63373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5281" y="8916743"/>
            <a:ext cx="3218259" cy="37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Small Open-Source LLM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988566" y="8680999"/>
            <a:ext cx="4083253" cy="874662"/>
            <a:chOff x="0" y="0"/>
            <a:chExt cx="5444338" cy="1166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5406263" cy="1128141"/>
            </a:xfrm>
            <a:custGeom>
              <a:avLst/>
              <a:gdLst/>
              <a:ahLst/>
              <a:cxnLst/>
              <a:rect r="r" b="b" t="t" l="l"/>
              <a:pathLst>
                <a:path h="1128141" w="5406263">
                  <a:moveTo>
                    <a:pt x="0" y="44323"/>
                  </a:moveTo>
                  <a:cubicBezTo>
                    <a:pt x="0" y="19812"/>
                    <a:pt x="20320" y="0"/>
                    <a:pt x="45466" y="0"/>
                  </a:cubicBezTo>
                  <a:lnTo>
                    <a:pt x="5360797" y="0"/>
                  </a:lnTo>
                  <a:cubicBezTo>
                    <a:pt x="5385943" y="0"/>
                    <a:pt x="5406263" y="19812"/>
                    <a:pt x="5406263" y="44323"/>
                  </a:cubicBezTo>
                  <a:lnTo>
                    <a:pt x="5406263" y="1083818"/>
                  </a:lnTo>
                  <a:cubicBezTo>
                    <a:pt x="5406263" y="1108329"/>
                    <a:pt x="5385943" y="1128141"/>
                    <a:pt x="5360797" y="1128141"/>
                  </a:cubicBezTo>
                  <a:lnTo>
                    <a:pt x="45466" y="1128141"/>
                  </a:lnTo>
                  <a:cubicBezTo>
                    <a:pt x="20320" y="1128141"/>
                    <a:pt x="0" y="1108329"/>
                    <a:pt x="0" y="10838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44363" cy="1166241"/>
            </a:xfrm>
            <a:custGeom>
              <a:avLst/>
              <a:gdLst/>
              <a:ahLst/>
              <a:cxnLst/>
              <a:rect r="r" b="b" t="t" l="l"/>
              <a:pathLst>
                <a:path h="1166241" w="5444363">
                  <a:moveTo>
                    <a:pt x="0" y="63373"/>
                  </a:moveTo>
                  <a:cubicBezTo>
                    <a:pt x="0" y="27940"/>
                    <a:pt x="29337" y="0"/>
                    <a:pt x="64516" y="0"/>
                  </a:cubicBezTo>
                  <a:lnTo>
                    <a:pt x="5379847" y="0"/>
                  </a:lnTo>
                  <a:lnTo>
                    <a:pt x="5379847" y="19050"/>
                  </a:lnTo>
                  <a:lnTo>
                    <a:pt x="5379847" y="0"/>
                  </a:lnTo>
                  <a:cubicBezTo>
                    <a:pt x="5415026" y="0"/>
                    <a:pt x="5444363" y="27940"/>
                    <a:pt x="5444363" y="63373"/>
                  </a:cubicBezTo>
                  <a:lnTo>
                    <a:pt x="5425313" y="63373"/>
                  </a:lnTo>
                  <a:lnTo>
                    <a:pt x="5444363" y="63373"/>
                  </a:lnTo>
                  <a:lnTo>
                    <a:pt x="5444363" y="1102868"/>
                  </a:lnTo>
                  <a:lnTo>
                    <a:pt x="5425313" y="1102868"/>
                  </a:lnTo>
                  <a:lnTo>
                    <a:pt x="5444363" y="1102868"/>
                  </a:lnTo>
                  <a:cubicBezTo>
                    <a:pt x="5444363" y="1138301"/>
                    <a:pt x="5415026" y="1166241"/>
                    <a:pt x="5379847" y="1166241"/>
                  </a:cubicBezTo>
                  <a:lnTo>
                    <a:pt x="5379847" y="1147191"/>
                  </a:lnTo>
                  <a:lnTo>
                    <a:pt x="5379847" y="1166241"/>
                  </a:lnTo>
                  <a:lnTo>
                    <a:pt x="64516" y="1166241"/>
                  </a:lnTo>
                  <a:lnTo>
                    <a:pt x="64516" y="1147191"/>
                  </a:lnTo>
                  <a:lnTo>
                    <a:pt x="64516" y="1166241"/>
                  </a:lnTo>
                  <a:cubicBezTo>
                    <a:pt x="29337" y="1166241"/>
                    <a:pt x="0" y="1138301"/>
                    <a:pt x="0" y="1102868"/>
                  </a:cubicBezTo>
                  <a:lnTo>
                    <a:pt x="0" y="63373"/>
                  </a:lnTo>
                  <a:lnTo>
                    <a:pt x="19050" y="63373"/>
                  </a:lnTo>
                  <a:lnTo>
                    <a:pt x="0" y="63373"/>
                  </a:lnTo>
                  <a:moveTo>
                    <a:pt x="38100" y="63373"/>
                  </a:moveTo>
                  <a:lnTo>
                    <a:pt x="38100" y="1102868"/>
                  </a:lnTo>
                  <a:lnTo>
                    <a:pt x="19050" y="1102868"/>
                  </a:lnTo>
                  <a:lnTo>
                    <a:pt x="38100" y="1102868"/>
                  </a:lnTo>
                  <a:cubicBezTo>
                    <a:pt x="38100" y="1116330"/>
                    <a:pt x="49403" y="1128141"/>
                    <a:pt x="64516" y="1128141"/>
                  </a:cubicBezTo>
                  <a:lnTo>
                    <a:pt x="5379847" y="1128141"/>
                  </a:lnTo>
                  <a:cubicBezTo>
                    <a:pt x="5394960" y="1128141"/>
                    <a:pt x="5406263" y="1116330"/>
                    <a:pt x="5406263" y="1102868"/>
                  </a:cubicBezTo>
                  <a:lnTo>
                    <a:pt x="5406263" y="63373"/>
                  </a:lnTo>
                  <a:cubicBezTo>
                    <a:pt x="5406263" y="49911"/>
                    <a:pt x="5394960" y="38100"/>
                    <a:pt x="5379847" y="38100"/>
                  </a:cubicBezTo>
                  <a:lnTo>
                    <a:pt x="64516" y="38100"/>
                  </a:lnTo>
                  <a:lnTo>
                    <a:pt x="64516" y="19050"/>
                  </a:lnTo>
                  <a:lnTo>
                    <a:pt x="64516" y="38100"/>
                  </a:lnTo>
                  <a:cubicBezTo>
                    <a:pt x="49403" y="38100"/>
                    <a:pt x="38100" y="49911"/>
                    <a:pt x="38100" y="63373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252885" y="8916743"/>
            <a:ext cx="3472015" cy="37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LoRA / QLoRA Fine-Tuning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16180" y="8680999"/>
            <a:ext cx="4083253" cy="874662"/>
            <a:chOff x="0" y="0"/>
            <a:chExt cx="5444338" cy="1166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050" y="19050"/>
              <a:ext cx="5406263" cy="1128141"/>
            </a:xfrm>
            <a:custGeom>
              <a:avLst/>
              <a:gdLst/>
              <a:ahLst/>
              <a:cxnLst/>
              <a:rect r="r" b="b" t="t" l="l"/>
              <a:pathLst>
                <a:path h="1128141" w="5406263">
                  <a:moveTo>
                    <a:pt x="0" y="44323"/>
                  </a:moveTo>
                  <a:cubicBezTo>
                    <a:pt x="0" y="19812"/>
                    <a:pt x="20320" y="0"/>
                    <a:pt x="45466" y="0"/>
                  </a:cubicBezTo>
                  <a:lnTo>
                    <a:pt x="5360797" y="0"/>
                  </a:lnTo>
                  <a:cubicBezTo>
                    <a:pt x="5385943" y="0"/>
                    <a:pt x="5406263" y="19812"/>
                    <a:pt x="5406263" y="44323"/>
                  </a:cubicBezTo>
                  <a:lnTo>
                    <a:pt x="5406263" y="1083818"/>
                  </a:lnTo>
                  <a:cubicBezTo>
                    <a:pt x="5406263" y="1108329"/>
                    <a:pt x="5385943" y="1128141"/>
                    <a:pt x="5360797" y="1128141"/>
                  </a:cubicBezTo>
                  <a:lnTo>
                    <a:pt x="45466" y="1128141"/>
                  </a:lnTo>
                  <a:cubicBezTo>
                    <a:pt x="20320" y="1128141"/>
                    <a:pt x="0" y="1108329"/>
                    <a:pt x="0" y="10838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44363" cy="1166241"/>
            </a:xfrm>
            <a:custGeom>
              <a:avLst/>
              <a:gdLst/>
              <a:ahLst/>
              <a:cxnLst/>
              <a:rect r="r" b="b" t="t" l="l"/>
              <a:pathLst>
                <a:path h="1166241" w="5444363">
                  <a:moveTo>
                    <a:pt x="0" y="63373"/>
                  </a:moveTo>
                  <a:cubicBezTo>
                    <a:pt x="0" y="27940"/>
                    <a:pt x="29337" y="0"/>
                    <a:pt x="64516" y="0"/>
                  </a:cubicBezTo>
                  <a:lnTo>
                    <a:pt x="5379847" y="0"/>
                  </a:lnTo>
                  <a:lnTo>
                    <a:pt x="5379847" y="19050"/>
                  </a:lnTo>
                  <a:lnTo>
                    <a:pt x="5379847" y="0"/>
                  </a:lnTo>
                  <a:cubicBezTo>
                    <a:pt x="5415026" y="0"/>
                    <a:pt x="5444363" y="27940"/>
                    <a:pt x="5444363" y="63373"/>
                  </a:cubicBezTo>
                  <a:lnTo>
                    <a:pt x="5425313" y="63373"/>
                  </a:lnTo>
                  <a:lnTo>
                    <a:pt x="5444363" y="63373"/>
                  </a:lnTo>
                  <a:lnTo>
                    <a:pt x="5444363" y="1102868"/>
                  </a:lnTo>
                  <a:lnTo>
                    <a:pt x="5425313" y="1102868"/>
                  </a:lnTo>
                  <a:lnTo>
                    <a:pt x="5444363" y="1102868"/>
                  </a:lnTo>
                  <a:cubicBezTo>
                    <a:pt x="5444363" y="1138301"/>
                    <a:pt x="5415026" y="1166241"/>
                    <a:pt x="5379847" y="1166241"/>
                  </a:cubicBezTo>
                  <a:lnTo>
                    <a:pt x="5379847" y="1147191"/>
                  </a:lnTo>
                  <a:lnTo>
                    <a:pt x="5379847" y="1166241"/>
                  </a:lnTo>
                  <a:lnTo>
                    <a:pt x="64516" y="1166241"/>
                  </a:lnTo>
                  <a:lnTo>
                    <a:pt x="64516" y="1147191"/>
                  </a:lnTo>
                  <a:lnTo>
                    <a:pt x="64516" y="1166241"/>
                  </a:lnTo>
                  <a:cubicBezTo>
                    <a:pt x="29337" y="1166241"/>
                    <a:pt x="0" y="1138301"/>
                    <a:pt x="0" y="1102868"/>
                  </a:cubicBezTo>
                  <a:lnTo>
                    <a:pt x="0" y="63373"/>
                  </a:lnTo>
                  <a:lnTo>
                    <a:pt x="19050" y="63373"/>
                  </a:lnTo>
                  <a:lnTo>
                    <a:pt x="0" y="63373"/>
                  </a:lnTo>
                  <a:moveTo>
                    <a:pt x="38100" y="63373"/>
                  </a:moveTo>
                  <a:lnTo>
                    <a:pt x="38100" y="1102868"/>
                  </a:lnTo>
                  <a:lnTo>
                    <a:pt x="19050" y="1102868"/>
                  </a:lnTo>
                  <a:lnTo>
                    <a:pt x="38100" y="1102868"/>
                  </a:lnTo>
                  <a:cubicBezTo>
                    <a:pt x="38100" y="1116330"/>
                    <a:pt x="49403" y="1128141"/>
                    <a:pt x="64516" y="1128141"/>
                  </a:cubicBezTo>
                  <a:lnTo>
                    <a:pt x="5379847" y="1128141"/>
                  </a:lnTo>
                  <a:cubicBezTo>
                    <a:pt x="5394960" y="1128141"/>
                    <a:pt x="5406263" y="1116330"/>
                    <a:pt x="5406263" y="1102868"/>
                  </a:cubicBezTo>
                  <a:lnTo>
                    <a:pt x="5406263" y="63373"/>
                  </a:lnTo>
                  <a:cubicBezTo>
                    <a:pt x="5406263" y="49911"/>
                    <a:pt x="5394960" y="38100"/>
                    <a:pt x="5379847" y="38100"/>
                  </a:cubicBezTo>
                  <a:lnTo>
                    <a:pt x="64516" y="38100"/>
                  </a:lnTo>
                  <a:lnTo>
                    <a:pt x="64516" y="19050"/>
                  </a:lnTo>
                  <a:lnTo>
                    <a:pt x="64516" y="38100"/>
                  </a:lnTo>
                  <a:cubicBezTo>
                    <a:pt x="49403" y="38100"/>
                    <a:pt x="38100" y="49911"/>
                    <a:pt x="38100" y="63373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480499" y="8916743"/>
            <a:ext cx="2768794" cy="37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Prompt Engineering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443795" y="8680999"/>
            <a:ext cx="4083253" cy="874662"/>
            <a:chOff x="0" y="0"/>
            <a:chExt cx="5444338" cy="1166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5406263" cy="1128141"/>
            </a:xfrm>
            <a:custGeom>
              <a:avLst/>
              <a:gdLst/>
              <a:ahLst/>
              <a:cxnLst/>
              <a:rect r="r" b="b" t="t" l="l"/>
              <a:pathLst>
                <a:path h="1128141" w="5406263">
                  <a:moveTo>
                    <a:pt x="0" y="44323"/>
                  </a:moveTo>
                  <a:cubicBezTo>
                    <a:pt x="0" y="19812"/>
                    <a:pt x="20320" y="0"/>
                    <a:pt x="45466" y="0"/>
                  </a:cubicBezTo>
                  <a:lnTo>
                    <a:pt x="5360797" y="0"/>
                  </a:lnTo>
                  <a:cubicBezTo>
                    <a:pt x="5385943" y="0"/>
                    <a:pt x="5406263" y="19812"/>
                    <a:pt x="5406263" y="44323"/>
                  </a:cubicBezTo>
                  <a:lnTo>
                    <a:pt x="5406263" y="1083818"/>
                  </a:lnTo>
                  <a:cubicBezTo>
                    <a:pt x="5406263" y="1108329"/>
                    <a:pt x="5385943" y="1128141"/>
                    <a:pt x="5360797" y="1128141"/>
                  </a:cubicBezTo>
                  <a:lnTo>
                    <a:pt x="45466" y="1128141"/>
                  </a:lnTo>
                  <a:cubicBezTo>
                    <a:pt x="20320" y="1128141"/>
                    <a:pt x="0" y="1108329"/>
                    <a:pt x="0" y="10838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44363" cy="1166241"/>
            </a:xfrm>
            <a:custGeom>
              <a:avLst/>
              <a:gdLst/>
              <a:ahLst/>
              <a:cxnLst/>
              <a:rect r="r" b="b" t="t" l="l"/>
              <a:pathLst>
                <a:path h="1166241" w="5444363">
                  <a:moveTo>
                    <a:pt x="0" y="63373"/>
                  </a:moveTo>
                  <a:cubicBezTo>
                    <a:pt x="0" y="27940"/>
                    <a:pt x="29337" y="0"/>
                    <a:pt x="64516" y="0"/>
                  </a:cubicBezTo>
                  <a:lnTo>
                    <a:pt x="5379847" y="0"/>
                  </a:lnTo>
                  <a:lnTo>
                    <a:pt x="5379847" y="19050"/>
                  </a:lnTo>
                  <a:lnTo>
                    <a:pt x="5379847" y="0"/>
                  </a:lnTo>
                  <a:cubicBezTo>
                    <a:pt x="5415026" y="0"/>
                    <a:pt x="5444363" y="27940"/>
                    <a:pt x="5444363" y="63373"/>
                  </a:cubicBezTo>
                  <a:lnTo>
                    <a:pt x="5425313" y="63373"/>
                  </a:lnTo>
                  <a:lnTo>
                    <a:pt x="5444363" y="63373"/>
                  </a:lnTo>
                  <a:lnTo>
                    <a:pt x="5444363" y="1102868"/>
                  </a:lnTo>
                  <a:lnTo>
                    <a:pt x="5425313" y="1102868"/>
                  </a:lnTo>
                  <a:lnTo>
                    <a:pt x="5444363" y="1102868"/>
                  </a:lnTo>
                  <a:cubicBezTo>
                    <a:pt x="5444363" y="1138301"/>
                    <a:pt x="5415026" y="1166241"/>
                    <a:pt x="5379847" y="1166241"/>
                  </a:cubicBezTo>
                  <a:lnTo>
                    <a:pt x="5379847" y="1147191"/>
                  </a:lnTo>
                  <a:lnTo>
                    <a:pt x="5379847" y="1166241"/>
                  </a:lnTo>
                  <a:lnTo>
                    <a:pt x="64516" y="1166241"/>
                  </a:lnTo>
                  <a:lnTo>
                    <a:pt x="64516" y="1147191"/>
                  </a:lnTo>
                  <a:lnTo>
                    <a:pt x="64516" y="1166241"/>
                  </a:lnTo>
                  <a:cubicBezTo>
                    <a:pt x="29337" y="1166241"/>
                    <a:pt x="0" y="1138301"/>
                    <a:pt x="0" y="1102868"/>
                  </a:cubicBezTo>
                  <a:lnTo>
                    <a:pt x="0" y="63373"/>
                  </a:lnTo>
                  <a:lnTo>
                    <a:pt x="19050" y="63373"/>
                  </a:lnTo>
                  <a:lnTo>
                    <a:pt x="0" y="63373"/>
                  </a:lnTo>
                  <a:moveTo>
                    <a:pt x="38100" y="63373"/>
                  </a:moveTo>
                  <a:lnTo>
                    <a:pt x="38100" y="1102868"/>
                  </a:lnTo>
                  <a:lnTo>
                    <a:pt x="19050" y="1102868"/>
                  </a:lnTo>
                  <a:lnTo>
                    <a:pt x="38100" y="1102868"/>
                  </a:lnTo>
                  <a:cubicBezTo>
                    <a:pt x="38100" y="1116330"/>
                    <a:pt x="49403" y="1128141"/>
                    <a:pt x="64516" y="1128141"/>
                  </a:cubicBezTo>
                  <a:lnTo>
                    <a:pt x="5379847" y="1128141"/>
                  </a:lnTo>
                  <a:cubicBezTo>
                    <a:pt x="5394960" y="1128141"/>
                    <a:pt x="5406263" y="1116330"/>
                    <a:pt x="5406263" y="1102868"/>
                  </a:cubicBezTo>
                  <a:lnTo>
                    <a:pt x="5406263" y="63373"/>
                  </a:lnTo>
                  <a:cubicBezTo>
                    <a:pt x="5406263" y="49911"/>
                    <a:pt x="5394960" y="38100"/>
                    <a:pt x="5379847" y="38100"/>
                  </a:cubicBezTo>
                  <a:lnTo>
                    <a:pt x="64516" y="38100"/>
                  </a:lnTo>
                  <a:lnTo>
                    <a:pt x="64516" y="19050"/>
                  </a:lnTo>
                  <a:lnTo>
                    <a:pt x="64516" y="38100"/>
                  </a:lnTo>
                  <a:cubicBezTo>
                    <a:pt x="49403" y="38100"/>
                    <a:pt x="38100" y="49911"/>
                    <a:pt x="38100" y="63373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708113" y="8916743"/>
            <a:ext cx="2768794" cy="37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AI Agent Workflow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69641"/>
            <a:ext cx="15550601" cy="87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299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Architecture &amp; Deep Learning Concepts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1347" y="3303984"/>
            <a:ext cx="9848850" cy="4254103"/>
            <a:chOff x="0" y="0"/>
            <a:chExt cx="13131800" cy="567213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131800" cy="5672201"/>
            </a:xfrm>
            <a:custGeom>
              <a:avLst/>
              <a:gdLst/>
              <a:ahLst/>
              <a:cxnLst/>
              <a:rect r="r" b="b" t="t" l="l"/>
              <a:pathLst>
                <a:path h="5672201" w="13131800">
                  <a:moveTo>
                    <a:pt x="0" y="0"/>
                  </a:moveTo>
                  <a:lnTo>
                    <a:pt x="13131800" y="0"/>
                  </a:lnTo>
                  <a:lnTo>
                    <a:pt x="13131800" y="5672201"/>
                  </a:lnTo>
                  <a:lnTo>
                    <a:pt x="0" y="567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" r="0" b="-4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601564" y="6129642"/>
            <a:ext cx="1462364" cy="55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Context Injection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01564" y="6757130"/>
            <a:ext cx="1462364" cy="41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3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Augment prompt with embeddings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56529" y="6129642"/>
            <a:ext cx="1462364" cy="55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6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Agent Orchestration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56529" y="6757130"/>
            <a:ext cx="1462364" cy="41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3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Coordinate tools and actions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8749" y="3668801"/>
            <a:ext cx="1462364" cy="28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User Prompt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8749" y="4029951"/>
            <a:ext cx="1462364" cy="41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3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Input from user or client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73566" y="3668801"/>
            <a:ext cx="1462364" cy="55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Structured Output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73566" y="4296289"/>
            <a:ext cx="1462364" cy="62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3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Generate validated response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02354" y="3668801"/>
            <a:ext cx="1462364" cy="55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6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Fine-Tuned LLM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02354" y="4296289"/>
            <a:ext cx="1462364" cy="41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3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PEFT/LoRA adapted model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7769723"/>
            <a:ext cx="10367220" cy="49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Modular architecture keeps the system lightweight and scalable.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26208" y="2660599"/>
            <a:ext cx="3366935" cy="43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Key DL Concepts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988108" y="3350123"/>
            <a:ext cx="76200" cy="496938"/>
            <a:chOff x="0" y="0"/>
            <a:chExt cx="101600" cy="6625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600" cy="662559"/>
            </a:xfrm>
            <a:custGeom>
              <a:avLst/>
              <a:gdLst/>
              <a:ahLst/>
              <a:cxnLst/>
              <a:rect r="r" b="b" t="t" l="l"/>
              <a:pathLst>
                <a:path h="662559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662559"/>
                  </a:lnTo>
                  <a:lnTo>
                    <a:pt x="0" y="662559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371632" y="3369173"/>
            <a:ext cx="3366935" cy="43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Transformers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988108" y="4282526"/>
            <a:ext cx="76200" cy="496938"/>
            <a:chOff x="0" y="0"/>
            <a:chExt cx="101600" cy="6625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0" cy="662559"/>
            </a:xfrm>
            <a:custGeom>
              <a:avLst/>
              <a:gdLst/>
              <a:ahLst/>
              <a:cxnLst/>
              <a:rect r="r" b="b" t="t" l="l"/>
              <a:pathLst>
                <a:path h="662559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662559"/>
                  </a:lnTo>
                  <a:lnTo>
                    <a:pt x="0" y="662559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371632" y="4301576"/>
            <a:ext cx="4812659" cy="43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LoRA — Low-Rank Adaptation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988108" y="5214938"/>
            <a:ext cx="76200" cy="917677"/>
            <a:chOff x="0" y="0"/>
            <a:chExt cx="101600" cy="12235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600" cy="1223518"/>
            </a:xfrm>
            <a:custGeom>
              <a:avLst/>
              <a:gdLst/>
              <a:ahLst/>
              <a:cxnLst/>
              <a:rect r="r" b="b" t="t" l="l"/>
              <a:pathLst>
                <a:path h="1223518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223518"/>
                  </a:lnTo>
                  <a:lnTo>
                    <a:pt x="0" y="1223518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371632" y="5233988"/>
            <a:ext cx="4933502" cy="86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PEFT — Parameter-Efficient Fine-Tuning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988108" y="6568078"/>
            <a:ext cx="76200" cy="917677"/>
            <a:chOff x="0" y="0"/>
            <a:chExt cx="101600" cy="12235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600" cy="1223518"/>
            </a:xfrm>
            <a:custGeom>
              <a:avLst/>
              <a:gdLst/>
              <a:ahLst/>
              <a:cxnLst/>
              <a:rect r="r" b="b" t="t" l="l"/>
              <a:pathLst>
                <a:path h="1223518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223518"/>
                  </a:lnTo>
                  <a:lnTo>
                    <a:pt x="0" y="1223518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371632" y="6587128"/>
            <a:ext cx="4933502" cy="86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Prompt Engineering &amp; Embeddings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988108" y="7921228"/>
            <a:ext cx="76200" cy="917677"/>
            <a:chOff x="0" y="0"/>
            <a:chExt cx="101600" cy="122356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600" cy="1223518"/>
            </a:xfrm>
            <a:custGeom>
              <a:avLst/>
              <a:gdLst/>
              <a:ahLst/>
              <a:cxnLst/>
              <a:rect r="r" b="b" t="t" l="l"/>
              <a:pathLst>
                <a:path h="1223518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223518"/>
                  </a:lnTo>
                  <a:lnTo>
                    <a:pt x="0" y="1223518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371632" y="7940278"/>
            <a:ext cx="4933502" cy="86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Instruction Tuning &amp; Agent Inference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915886"/>
            <a:ext cx="8595417" cy="87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299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Training &amp; Implementation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2170062"/>
            <a:ext cx="1346749" cy="1616126"/>
            <a:chOff x="0" y="0"/>
            <a:chExt cx="1795666" cy="215483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795653" cy="2154809"/>
            </a:xfrm>
            <a:custGeom>
              <a:avLst/>
              <a:gdLst/>
              <a:ahLst/>
              <a:cxnLst/>
              <a:rect r="r" b="b" t="t" l="l"/>
              <a:pathLst>
                <a:path h="2154809" w="1795653">
                  <a:moveTo>
                    <a:pt x="0" y="0"/>
                  </a:moveTo>
                  <a:lnTo>
                    <a:pt x="1795653" y="0"/>
                  </a:lnTo>
                  <a:lnTo>
                    <a:pt x="1795653" y="2154809"/>
                  </a:lnTo>
                  <a:lnTo>
                    <a:pt x="0" y="2154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35" r="0" b="-23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94820" y="2420245"/>
            <a:ext cx="3366935" cy="43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 Prep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94820" y="2937272"/>
            <a:ext cx="7842942" cy="49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Curated, tokenized coding data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3786188"/>
            <a:ext cx="1346749" cy="1616126"/>
            <a:chOff x="0" y="0"/>
            <a:chExt cx="1795666" cy="2154834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795653" cy="2154809"/>
            </a:xfrm>
            <a:custGeom>
              <a:avLst/>
              <a:gdLst/>
              <a:ahLst/>
              <a:cxnLst/>
              <a:rect r="r" b="b" t="t" l="l"/>
              <a:pathLst>
                <a:path h="2154809" w="1795653">
                  <a:moveTo>
                    <a:pt x="0" y="0"/>
                  </a:moveTo>
                  <a:lnTo>
                    <a:pt x="1795653" y="0"/>
                  </a:lnTo>
                  <a:lnTo>
                    <a:pt x="1795653" y="2154809"/>
                  </a:lnTo>
                  <a:lnTo>
                    <a:pt x="0" y="2154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35" r="0" b="-23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594820" y="4036371"/>
            <a:ext cx="3366935" cy="43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LoRA Fine-Tuning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94820" y="4553398"/>
            <a:ext cx="7842942" cy="49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Low-rank adapters via PEFT + PyTorch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5402313"/>
            <a:ext cx="1346749" cy="1616126"/>
            <a:chOff x="0" y="0"/>
            <a:chExt cx="1795666" cy="215483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795653" cy="2154809"/>
            </a:xfrm>
            <a:custGeom>
              <a:avLst/>
              <a:gdLst/>
              <a:ahLst/>
              <a:cxnLst/>
              <a:rect r="r" b="b" t="t" l="l"/>
              <a:pathLst>
                <a:path h="2154809" w="1795653">
                  <a:moveTo>
                    <a:pt x="0" y="0"/>
                  </a:moveTo>
                  <a:lnTo>
                    <a:pt x="1795653" y="0"/>
                  </a:lnTo>
                  <a:lnTo>
                    <a:pt x="1795653" y="2154809"/>
                  </a:lnTo>
                  <a:lnTo>
                    <a:pt x="0" y="2154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35" r="0" b="-236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594820" y="5652487"/>
            <a:ext cx="3366935" cy="43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Optimization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94820" y="6169523"/>
            <a:ext cx="7842942" cy="49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Small batches, reduced sequence length, checkpointing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7018439"/>
            <a:ext cx="1346749" cy="1616126"/>
            <a:chOff x="0" y="0"/>
            <a:chExt cx="1795666" cy="215483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795653" cy="2154809"/>
            </a:xfrm>
            <a:custGeom>
              <a:avLst/>
              <a:gdLst/>
              <a:ahLst/>
              <a:cxnLst/>
              <a:rect r="r" b="b" t="t" l="l"/>
              <a:pathLst>
                <a:path h="2154809" w="1795653">
                  <a:moveTo>
                    <a:pt x="0" y="0"/>
                  </a:moveTo>
                  <a:lnTo>
                    <a:pt x="1795653" y="0"/>
                  </a:lnTo>
                  <a:lnTo>
                    <a:pt x="1795653" y="2154809"/>
                  </a:lnTo>
                  <a:lnTo>
                    <a:pt x="0" y="2154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35" r="0" b="-236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594820" y="7268613"/>
            <a:ext cx="3366935" cy="43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Evaluation &amp; Export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94820" y="7785649"/>
            <a:ext cx="7842942" cy="49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Metrics-driven evaluation, model export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238" y="8846191"/>
            <a:ext cx="9445523" cy="49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Stack:</a:t>
            </a:r>
            <a:r>
              <a:rPr lang="en-US" sz="21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Hugging Face Transformers · PEFT · PyTorch · Python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8261" y="788346"/>
            <a:ext cx="6533855" cy="68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41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Agent Workflow &amp;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8261" y="1848593"/>
            <a:ext cx="2635891" cy="34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Inference Flow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61665" y="2373363"/>
            <a:ext cx="8991600" cy="3877418"/>
            <a:chOff x="0" y="0"/>
            <a:chExt cx="11988800" cy="516989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988800" cy="5169916"/>
            </a:xfrm>
            <a:custGeom>
              <a:avLst/>
              <a:gdLst/>
              <a:ahLst/>
              <a:cxnLst/>
              <a:rect r="r" b="b" t="t" l="l"/>
              <a:pathLst>
                <a:path h="5169916" w="11988800">
                  <a:moveTo>
                    <a:pt x="0" y="0"/>
                  </a:moveTo>
                  <a:lnTo>
                    <a:pt x="11988800" y="0"/>
                  </a:lnTo>
                  <a:lnTo>
                    <a:pt x="11988800" y="5169916"/>
                  </a:lnTo>
                  <a:lnTo>
                    <a:pt x="0" y="5169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266674" y="5496430"/>
            <a:ext cx="2039912" cy="27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Agent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66674" y="4598870"/>
            <a:ext cx="2039912" cy="2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Fine-Tuned LLM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66674" y="3710378"/>
            <a:ext cx="2039912" cy="2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Prompt 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66674" y="2812818"/>
            <a:ext cx="2039912" cy="2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User Input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8261" y="6379521"/>
            <a:ext cx="10578408" cy="34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The agent handles prompt formatting, context management, structured responses, and output validation.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70544" y="3738267"/>
            <a:ext cx="4121048" cy="34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Improvements After Fine-Tuning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70544" y="4195763"/>
            <a:ext cx="5458568" cy="63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Metrics:</a:t>
            </a:r>
            <a:r>
              <a:rPr lang="en-US" sz="16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Code correctness · Response clarity · Task completion · Prompt consistency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3973" y="7024392"/>
            <a:ext cx="4048868" cy="1165917"/>
            <a:chOff x="0" y="0"/>
            <a:chExt cx="5398491" cy="15545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5360416" cy="1516507"/>
            </a:xfrm>
            <a:custGeom>
              <a:avLst/>
              <a:gdLst/>
              <a:ahLst/>
              <a:cxnLst/>
              <a:rect r="r" b="b" t="t" l="l"/>
              <a:pathLst>
                <a:path h="1516507" w="5360416">
                  <a:moveTo>
                    <a:pt x="0" y="182880"/>
                  </a:moveTo>
                  <a:cubicBezTo>
                    <a:pt x="0" y="81915"/>
                    <a:pt x="83312" y="0"/>
                    <a:pt x="186182" y="0"/>
                  </a:cubicBezTo>
                  <a:lnTo>
                    <a:pt x="5174234" y="0"/>
                  </a:lnTo>
                  <a:cubicBezTo>
                    <a:pt x="5277104" y="0"/>
                    <a:pt x="5360416" y="81915"/>
                    <a:pt x="5360416" y="182880"/>
                  </a:cubicBezTo>
                  <a:lnTo>
                    <a:pt x="5360416" y="1333627"/>
                  </a:lnTo>
                  <a:cubicBezTo>
                    <a:pt x="5360416" y="1434592"/>
                    <a:pt x="5277104" y="1516507"/>
                    <a:pt x="5174234" y="1516507"/>
                  </a:cubicBezTo>
                  <a:lnTo>
                    <a:pt x="186182" y="1516507"/>
                  </a:lnTo>
                  <a:cubicBezTo>
                    <a:pt x="83312" y="1516507"/>
                    <a:pt x="0" y="1434592"/>
                    <a:pt x="0" y="13336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98516" cy="1554607"/>
            </a:xfrm>
            <a:custGeom>
              <a:avLst/>
              <a:gdLst/>
              <a:ahLst/>
              <a:cxnLst/>
              <a:rect r="r" b="b" t="t" l="l"/>
              <a:pathLst>
                <a:path h="1554607" w="5398516">
                  <a:moveTo>
                    <a:pt x="0" y="201930"/>
                  </a:moveTo>
                  <a:cubicBezTo>
                    <a:pt x="0" y="90043"/>
                    <a:pt x="92202" y="0"/>
                    <a:pt x="205232" y="0"/>
                  </a:cubicBezTo>
                  <a:lnTo>
                    <a:pt x="5193284" y="0"/>
                  </a:lnTo>
                  <a:lnTo>
                    <a:pt x="5193284" y="19050"/>
                  </a:lnTo>
                  <a:lnTo>
                    <a:pt x="5193284" y="0"/>
                  </a:lnTo>
                  <a:cubicBezTo>
                    <a:pt x="5306314" y="0"/>
                    <a:pt x="5398516" y="90043"/>
                    <a:pt x="5398516" y="201930"/>
                  </a:cubicBezTo>
                  <a:lnTo>
                    <a:pt x="5379466" y="201930"/>
                  </a:lnTo>
                  <a:lnTo>
                    <a:pt x="5398516" y="201930"/>
                  </a:lnTo>
                  <a:lnTo>
                    <a:pt x="5398516" y="1352677"/>
                  </a:lnTo>
                  <a:lnTo>
                    <a:pt x="5379466" y="1352677"/>
                  </a:lnTo>
                  <a:lnTo>
                    <a:pt x="5398516" y="1352677"/>
                  </a:lnTo>
                  <a:cubicBezTo>
                    <a:pt x="5398516" y="1464564"/>
                    <a:pt x="5306314" y="1554607"/>
                    <a:pt x="5193284" y="1554607"/>
                  </a:cubicBezTo>
                  <a:lnTo>
                    <a:pt x="5193284" y="1535557"/>
                  </a:lnTo>
                  <a:lnTo>
                    <a:pt x="5193284" y="1554607"/>
                  </a:lnTo>
                  <a:lnTo>
                    <a:pt x="205232" y="1554607"/>
                  </a:lnTo>
                  <a:lnTo>
                    <a:pt x="205232" y="1535557"/>
                  </a:lnTo>
                  <a:lnTo>
                    <a:pt x="205232" y="1554607"/>
                  </a:lnTo>
                  <a:cubicBezTo>
                    <a:pt x="92202" y="1554607"/>
                    <a:pt x="0" y="1464564"/>
                    <a:pt x="0" y="1352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352677"/>
                  </a:lnTo>
                  <a:lnTo>
                    <a:pt x="19050" y="1352677"/>
                  </a:lnTo>
                  <a:lnTo>
                    <a:pt x="38100" y="1352677"/>
                  </a:lnTo>
                  <a:cubicBezTo>
                    <a:pt x="38100" y="1442847"/>
                    <a:pt x="112649" y="1516507"/>
                    <a:pt x="205232" y="1516507"/>
                  </a:cubicBezTo>
                  <a:lnTo>
                    <a:pt x="5193284" y="1516507"/>
                  </a:lnTo>
                  <a:cubicBezTo>
                    <a:pt x="5285867" y="1516507"/>
                    <a:pt x="5360416" y="1442847"/>
                    <a:pt x="5360416" y="1352677"/>
                  </a:cubicBezTo>
                  <a:lnTo>
                    <a:pt x="5360416" y="201930"/>
                  </a:lnTo>
                  <a:cubicBezTo>
                    <a:pt x="5360416" y="111760"/>
                    <a:pt x="5285867" y="38100"/>
                    <a:pt x="5193284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649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39686" y="7038680"/>
            <a:ext cx="114300" cy="1137342"/>
            <a:chOff x="0" y="0"/>
            <a:chExt cx="152400" cy="15164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" cy="1516507"/>
            </a:xfrm>
            <a:custGeom>
              <a:avLst/>
              <a:gdLst/>
              <a:ahLst/>
              <a:cxnLst/>
              <a:rect r="r" b="b" t="t" l="l"/>
              <a:pathLst>
                <a:path h="1516507" w="152400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110236" y="0"/>
                  </a:lnTo>
                  <a:cubicBezTo>
                    <a:pt x="133477" y="0"/>
                    <a:pt x="152400" y="18923"/>
                    <a:pt x="152400" y="42164"/>
                  </a:cubicBezTo>
                  <a:lnTo>
                    <a:pt x="152400" y="1474343"/>
                  </a:lnTo>
                  <a:cubicBezTo>
                    <a:pt x="152400" y="1497584"/>
                    <a:pt x="133477" y="1516507"/>
                    <a:pt x="110236" y="1516507"/>
                  </a:cubicBezTo>
                  <a:lnTo>
                    <a:pt x="42164" y="1516507"/>
                  </a:lnTo>
                  <a:cubicBezTo>
                    <a:pt x="18923" y="1516507"/>
                    <a:pt x="0" y="1497584"/>
                    <a:pt x="0" y="1474343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93302" y="7258945"/>
            <a:ext cx="3448793" cy="34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Better instruction following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030991" y="7024392"/>
            <a:ext cx="4048868" cy="1165917"/>
            <a:chOff x="0" y="0"/>
            <a:chExt cx="5398491" cy="15545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5360416" cy="1516507"/>
            </a:xfrm>
            <a:custGeom>
              <a:avLst/>
              <a:gdLst/>
              <a:ahLst/>
              <a:cxnLst/>
              <a:rect r="r" b="b" t="t" l="l"/>
              <a:pathLst>
                <a:path h="1516507" w="5360416">
                  <a:moveTo>
                    <a:pt x="0" y="182880"/>
                  </a:moveTo>
                  <a:cubicBezTo>
                    <a:pt x="0" y="81915"/>
                    <a:pt x="83312" y="0"/>
                    <a:pt x="186182" y="0"/>
                  </a:cubicBezTo>
                  <a:lnTo>
                    <a:pt x="5174234" y="0"/>
                  </a:lnTo>
                  <a:cubicBezTo>
                    <a:pt x="5277104" y="0"/>
                    <a:pt x="5360416" y="81915"/>
                    <a:pt x="5360416" y="182880"/>
                  </a:cubicBezTo>
                  <a:lnTo>
                    <a:pt x="5360416" y="1333627"/>
                  </a:lnTo>
                  <a:cubicBezTo>
                    <a:pt x="5360416" y="1434592"/>
                    <a:pt x="5277104" y="1516507"/>
                    <a:pt x="5174234" y="1516507"/>
                  </a:cubicBezTo>
                  <a:lnTo>
                    <a:pt x="186182" y="1516507"/>
                  </a:lnTo>
                  <a:cubicBezTo>
                    <a:pt x="83312" y="1516507"/>
                    <a:pt x="0" y="1434592"/>
                    <a:pt x="0" y="13336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98516" cy="1554607"/>
            </a:xfrm>
            <a:custGeom>
              <a:avLst/>
              <a:gdLst/>
              <a:ahLst/>
              <a:cxnLst/>
              <a:rect r="r" b="b" t="t" l="l"/>
              <a:pathLst>
                <a:path h="1554607" w="5398516">
                  <a:moveTo>
                    <a:pt x="0" y="201930"/>
                  </a:moveTo>
                  <a:cubicBezTo>
                    <a:pt x="0" y="90043"/>
                    <a:pt x="92202" y="0"/>
                    <a:pt x="205232" y="0"/>
                  </a:cubicBezTo>
                  <a:lnTo>
                    <a:pt x="5193284" y="0"/>
                  </a:lnTo>
                  <a:lnTo>
                    <a:pt x="5193284" y="19050"/>
                  </a:lnTo>
                  <a:lnTo>
                    <a:pt x="5193284" y="0"/>
                  </a:lnTo>
                  <a:cubicBezTo>
                    <a:pt x="5306314" y="0"/>
                    <a:pt x="5398516" y="90043"/>
                    <a:pt x="5398516" y="201930"/>
                  </a:cubicBezTo>
                  <a:lnTo>
                    <a:pt x="5379466" y="201930"/>
                  </a:lnTo>
                  <a:lnTo>
                    <a:pt x="5398516" y="201930"/>
                  </a:lnTo>
                  <a:lnTo>
                    <a:pt x="5398516" y="1352677"/>
                  </a:lnTo>
                  <a:lnTo>
                    <a:pt x="5379466" y="1352677"/>
                  </a:lnTo>
                  <a:lnTo>
                    <a:pt x="5398516" y="1352677"/>
                  </a:lnTo>
                  <a:cubicBezTo>
                    <a:pt x="5398516" y="1464564"/>
                    <a:pt x="5306314" y="1554607"/>
                    <a:pt x="5193284" y="1554607"/>
                  </a:cubicBezTo>
                  <a:lnTo>
                    <a:pt x="5193284" y="1535557"/>
                  </a:lnTo>
                  <a:lnTo>
                    <a:pt x="5193284" y="1554607"/>
                  </a:lnTo>
                  <a:lnTo>
                    <a:pt x="205232" y="1554607"/>
                  </a:lnTo>
                  <a:lnTo>
                    <a:pt x="205232" y="1535557"/>
                  </a:lnTo>
                  <a:lnTo>
                    <a:pt x="205232" y="1554607"/>
                  </a:lnTo>
                  <a:cubicBezTo>
                    <a:pt x="92202" y="1554607"/>
                    <a:pt x="0" y="1464564"/>
                    <a:pt x="0" y="1352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352677"/>
                  </a:lnTo>
                  <a:lnTo>
                    <a:pt x="19050" y="1352677"/>
                  </a:lnTo>
                  <a:lnTo>
                    <a:pt x="38100" y="1352677"/>
                  </a:lnTo>
                  <a:cubicBezTo>
                    <a:pt x="38100" y="1442847"/>
                    <a:pt x="112649" y="1516507"/>
                    <a:pt x="205232" y="1516507"/>
                  </a:cubicBezTo>
                  <a:lnTo>
                    <a:pt x="5193284" y="1516507"/>
                  </a:lnTo>
                  <a:cubicBezTo>
                    <a:pt x="5285867" y="1516507"/>
                    <a:pt x="5360416" y="1442847"/>
                    <a:pt x="5360416" y="1352677"/>
                  </a:cubicBezTo>
                  <a:lnTo>
                    <a:pt x="5360416" y="201930"/>
                  </a:lnTo>
                  <a:cubicBezTo>
                    <a:pt x="5360416" y="111760"/>
                    <a:pt x="5285867" y="38100"/>
                    <a:pt x="5193284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649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016694" y="7038680"/>
            <a:ext cx="114300" cy="1137342"/>
            <a:chOff x="0" y="0"/>
            <a:chExt cx="152400" cy="15164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1516507"/>
            </a:xfrm>
            <a:custGeom>
              <a:avLst/>
              <a:gdLst/>
              <a:ahLst/>
              <a:cxnLst/>
              <a:rect r="r" b="b" t="t" l="l"/>
              <a:pathLst>
                <a:path h="1516507" w="152400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110236" y="0"/>
                  </a:lnTo>
                  <a:cubicBezTo>
                    <a:pt x="133477" y="0"/>
                    <a:pt x="152400" y="18923"/>
                    <a:pt x="152400" y="42164"/>
                  </a:cubicBezTo>
                  <a:lnTo>
                    <a:pt x="152400" y="1474343"/>
                  </a:lnTo>
                  <a:cubicBezTo>
                    <a:pt x="152400" y="1497584"/>
                    <a:pt x="133477" y="1516507"/>
                    <a:pt x="110236" y="1516507"/>
                  </a:cubicBezTo>
                  <a:lnTo>
                    <a:pt x="42164" y="1516507"/>
                  </a:lnTo>
                  <a:cubicBezTo>
                    <a:pt x="18923" y="1516507"/>
                    <a:pt x="0" y="1497584"/>
                    <a:pt x="0" y="1474343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370309" y="7258945"/>
            <a:ext cx="3455937" cy="67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Improved code explanations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07998" y="7024392"/>
            <a:ext cx="4048868" cy="1165917"/>
            <a:chOff x="0" y="0"/>
            <a:chExt cx="5398491" cy="15545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9050" y="19050"/>
              <a:ext cx="5360416" cy="1516507"/>
            </a:xfrm>
            <a:custGeom>
              <a:avLst/>
              <a:gdLst/>
              <a:ahLst/>
              <a:cxnLst/>
              <a:rect r="r" b="b" t="t" l="l"/>
              <a:pathLst>
                <a:path h="1516507" w="5360416">
                  <a:moveTo>
                    <a:pt x="0" y="182880"/>
                  </a:moveTo>
                  <a:cubicBezTo>
                    <a:pt x="0" y="81915"/>
                    <a:pt x="83312" y="0"/>
                    <a:pt x="186182" y="0"/>
                  </a:cubicBezTo>
                  <a:lnTo>
                    <a:pt x="5174234" y="0"/>
                  </a:lnTo>
                  <a:cubicBezTo>
                    <a:pt x="5277104" y="0"/>
                    <a:pt x="5360416" y="81915"/>
                    <a:pt x="5360416" y="182880"/>
                  </a:cubicBezTo>
                  <a:lnTo>
                    <a:pt x="5360416" y="1333627"/>
                  </a:lnTo>
                  <a:cubicBezTo>
                    <a:pt x="5360416" y="1434592"/>
                    <a:pt x="5277104" y="1516507"/>
                    <a:pt x="5174234" y="1516507"/>
                  </a:cubicBezTo>
                  <a:lnTo>
                    <a:pt x="186182" y="1516507"/>
                  </a:lnTo>
                  <a:cubicBezTo>
                    <a:pt x="83312" y="1516507"/>
                    <a:pt x="0" y="1434592"/>
                    <a:pt x="0" y="13336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8516" cy="1554607"/>
            </a:xfrm>
            <a:custGeom>
              <a:avLst/>
              <a:gdLst/>
              <a:ahLst/>
              <a:cxnLst/>
              <a:rect r="r" b="b" t="t" l="l"/>
              <a:pathLst>
                <a:path h="1554607" w="5398516">
                  <a:moveTo>
                    <a:pt x="0" y="201930"/>
                  </a:moveTo>
                  <a:cubicBezTo>
                    <a:pt x="0" y="90043"/>
                    <a:pt x="92202" y="0"/>
                    <a:pt x="205232" y="0"/>
                  </a:cubicBezTo>
                  <a:lnTo>
                    <a:pt x="5193284" y="0"/>
                  </a:lnTo>
                  <a:lnTo>
                    <a:pt x="5193284" y="19050"/>
                  </a:lnTo>
                  <a:lnTo>
                    <a:pt x="5193284" y="0"/>
                  </a:lnTo>
                  <a:cubicBezTo>
                    <a:pt x="5306314" y="0"/>
                    <a:pt x="5398516" y="90043"/>
                    <a:pt x="5398516" y="201930"/>
                  </a:cubicBezTo>
                  <a:lnTo>
                    <a:pt x="5379466" y="201930"/>
                  </a:lnTo>
                  <a:lnTo>
                    <a:pt x="5398516" y="201930"/>
                  </a:lnTo>
                  <a:lnTo>
                    <a:pt x="5398516" y="1352677"/>
                  </a:lnTo>
                  <a:lnTo>
                    <a:pt x="5379466" y="1352677"/>
                  </a:lnTo>
                  <a:lnTo>
                    <a:pt x="5398516" y="1352677"/>
                  </a:lnTo>
                  <a:cubicBezTo>
                    <a:pt x="5398516" y="1464564"/>
                    <a:pt x="5306314" y="1554607"/>
                    <a:pt x="5193284" y="1554607"/>
                  </a:cubicBezTo>
                  <a:lnTo>
                    <a:pt x="5193284" y="1535557"/>
                  </a:lnTo>
                  <a:lnTo>
                    <a:pt x="5193284" y="1554607"/>
                  </a:lnTo>
                  <a:lnTo>
                    <a:pt x="205232" y="1554607"/>
                  </a:lnTo>
                  <a:lnTo>
                    <a:pt x="205232" y="1535557"/>
                  </a:lnTo>
                  <a:lnTo>
                    <a:pt x="205232" y="1554607"/>
                  </a:lnTo>
                  <a:cubicBezTo>
                    <a:pt x="92202" y="1554607"/>
                    <a:pt x="0" y="1464564"/>
                    <a:pt x="0" y="1352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352677"/>
                  </a:lnTo>
                  <a:lnTo>
                    <a:pt x="19050" y="1352677"/>
                  </a:lnTo>
                  <a:lnTo>
                    <a:pt x="38100" y="1352677"/>
                  </a:lnTo>
                  <a:cubicBezTo>
                    <a:pt x="38100" y="1442847"/>
                    <a:pt x="112649" y="1516507"/>
                    <a:pt x="205232" y="1516507"/>
                  </a:cubicBezTo>
                  <a:lnTo>
                    <a:pt x="5193284" y="1516507"/>
                  </a:lnTo>
                  <a:cubicBezTo>
                    <a:pt x="5285867" y="1516507"/>
                    <a:pt x="5360416" y="1442847"/>
                    <a:pt x="5360416" y="1352677"/>
                  </a:cubicBezTo>
                  <a:lnTo>
                    <a:pt x="5360416" y="201930"/>
                  </a:lnTo>
                  <a:cubicBezTo>
                    <a:pt x="5360416" y="111760"/>
                    <a:pt x="5285867" y="38100"/>
                    <a:pt x="5193284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649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93711" y="7038680"/>
            <a:ext cx="114300" cy="1137342"/>
            <a:chOff x="0" y="0"/>
            <a:chExt cx="152400" cy="15164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2400" cy="1516507"/>
            </a:xfrm>
            <a:custGeom>
              <a:avLst/>
              <a:gdLst/>
              <a:ahLst/>
              <a:cxnLst/>
              <a:rect r="r" b="b" t="t" l="l"/>
              <a:pathLst>
                <a:path h="1516507" w="152400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110236" y="0"/>
                  </a:lnTo>
                  <a:cubicBezTo>
                    <a:pt x="133477" y="0"/>
                    <a:pt x="152400" y="18923"/>
                    <a:pt x="152400" y="42164"/>
                  </a:cubicBezTo>
                  <a:lnTo>
                    <a:pt x="152400" y="1474343"/>
                  </a:lnTo>
                  <a:cubicBezTo>
                    <a:pt x="152400" y="1497584"/>
                    <a:pt x="133477" y="1516507"/>
                    <a:pt x="110236" y="1516507"/>
                  </a:cubicBezTo>
                  <a:lnTo>
                    <a:pt x="42164" y="1516507"/>
                  </a:lnTo>
                  <a:cubicBezTo>
                    <a:pt x="18923" y="1516507"/>
                    <a:pt x="0" y="1497584"/>
                    <a:pt x="0" y="1474343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547327" y="7258945"/>
            <a:ext cx="3143545" cy="34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More structured outputs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385006" y="7024392"/>
            <a:ext cx="4049020" cy="1165917"/>
            <a:chOff x="0" y="0"/>
            <a:chExt cx="5398694" cy="15545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9050" y="19050"/>
              <a:ext cx="5360670" cy="1516507"/>
            </a:xfrm>
            <a:custGeom>
              <a:avLst/>
              <a:gdLst/>
              <a:ahLst/>
              <a:cxnLst/>
              <a:rect r="r" b="b" t="t" l="l"/>
              <a:pathLst>
                <a:path h="1516507" w="5360670">
                  <a:moveTo>
                    <a:pt x="0" y="182880"/>
                  </a:moveTo>
                  <a:cubicBezTo>
                    <a:pt x="0" y="81915"/>
                    <a:pt x="83312" y="0"/>
                    <a:pt x="186182" y="0"/>
                  </a:cubicBezTo>
                  <a:lnTo>
                    <a:pt x="5174488" y="0"/>
                  </a:lnTo>
                  <a:cubicBezTo>
                    <a:pt x="5277358" y="0"/>
                    <a:pt x="5360670" y="81915"/>
                    <a:pt x="5360670" y="182880"/>
                  </a:cubicBezTo>
                  <a:lnTo>
                    <a:pt x="5360670" y="1333627"/>
                  </a:lnTo>
                  <a:cubicBezTo>
                    <a:pt x="5360670" y="1434592"/>
                    <a:pt x="5277358" y="1516507"/>
                    <a:pt x="5174488" y="1516507"/>
                  </a:cubicBezTo>
                  <a:lnTo>
                    <a:pt x="186182" y="1516507"/>
                  </a:lnTo>
                  <a:cubicBezTo>
                    <a:pt x="83312" y="1516507"/>
                    <a:pt x="0" y="1434592"/>
                    <a:pt x="0" y="13336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770" cy="1554607"/>
            </a:xfrm>
            <a:custGeom>
              <a:avLst/>
              <a:gdLst/>
              <a:ahLst/>
              <a:cxnLst/>
              <a:rect r="r" b="b" t="t" l="l"/>
              <a:pathLst>
                <a:path h="1554607" w="5398770">
                  <a:moveTo>
                    <a:pt x="0" y="201930"/>
                  </a:moveTo>
                  <a:cubicBezTo>
                    <a:pt x="0" y="90043"/>
                    <a:pt x="92202" y="0"/>
                    <a:pt x="205232" y="0"/>
                  </a:cubicBezTo>
                  <a:lnTo>
                    <a:pt x="5193538" y="0"/>
                  </a:lnTo>
                  <a:lnTo>
                    <a:pt x="5193538" y="19050"/>
                  </a:lnTo>
                  <a:lnTo>
                    <a:pt x="5193538" y="0"/>
                  </a:lnTo>
                  <a:cubicBezTo>
                    <a:pt x="5306568" y="0"/>
                    <a:pt x="5398770" y="90043"/>
                    <a:pt x="5398770" y="201930"/>
                  </a:cubicBezTo>
                  <a:lnTo>
                    <a:pt x="5379720" y="201930"/>
                  </a:lnTo>
                  <a:lnTo>
                    <a:pt x="5398770" y="201930"/>
                  </a:lnTo>
                  <a:lnTo>
                    <a:pt x="5398770" y="1352677"/>
                  </a:lnTo>
                  <a:lnTo>
                    <a:pt x="5379720" y="1352677"/>
                  </a:lnTo>
                  <a:lnTo>
                    <a:pt x="5398770" y="1352677"/>
                  </a:lnTo>
                  <a:cubicBezTo>
                    <a:pt x="5398770" y="1464564"/>
                    <a:pt x="5306568" y="1554607"/>
                    <a:pt x="5193538" y="1554607"/>
                  </a:cubicBezTo>
                  <a:lnTo>
                    <a:pt x="5193538" y="1535557"/>
                  </a:lnTo>
                  <a:lnTo>
                    <a:pt x="5193538" y="1554607"/>
                  </a:lnTo>
                  <a:lnTo>
                    <a:pt x="205232" y="1554607"/>
                  </a:lnTo>
                  <a:lnTo>
                    <a:pt x="205232" y="1535557"/>
                  </a:lnTo>
                  <a:lnTo>
                    <a:pt x="205232" y="1554607"/>
                  </a:lnTo>
                  <a:cubicBezTo>
                    <a:pt x="92202" y="1554607"/>
                    <a:pt x="0" y="1464564"/>
                    <a:pt x="0" y="1352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352677"/>
                  </a:lnTo>
                  <a:lnTo>
                    <a:pt x="19050" y="1352677"/>
                  </a:lnTo>
                  <a:lnTo>
                    <a:pt x="38100" y="1352677"/>
                  </a:lnTo>
                  <a:cubicBezTo>
                    <a:pt x="38100" y="1442847"/>
                    <a:pt x="112649" y="1516507"/>
                    <a:pt x="205232" y="1516507"/>
                  </a:cubicBezTo>
                  <a:lnTo>
                    <a:pt x="5193538" y="1516507"/>
                  </a:lnTo>
                  <a:cubicBezTo>
                    <a:pt x="5286121" y="1516507"/>
                    <a:pt x="5360670" y="1442847"/>
                    <a:pt x="5360670" y="1352677"/>
                  </a:cubicBezTo>
                  <a:lnTo>
                    <a:pt x="5360670" y="201930"/>
                  </a:lnTo>
                  <a:cubicBezTo>
                    <a:pt x="5360670" y="111760"/>
                    <a:pt x="5286121" y="38100"/>
                    <a:pt x="5193538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649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370719" y="7038680"/>
            <a:ext cx="114300" cy="1137342"/>
            <a:chOff x="0" y="0"/>
            <a:chExt cx="152400" cy="15164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2400" cy="1516507"/>
            </a:xfrm>
            <a:custGeom>
              <a:avLst/>
              <a:gdLst/>
              <a:ahLst/>
              <a:cxnLst/>
              <a:rect r="r" b="b" t="t" l="l"/>
              <a:pathLst>
                <a:path h="1516507" w="152400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110236" y="0"/>
                  </a:lnTo>
                  <a:cubicBezTo>
                    <a:pt x="133477" y="0"/>
                    <a:pt x="152400" y="18923"/>
                    <a:pt x="152400" y="42164"/>
                  </a:cubicBezTo>
                  <a:lnTo>
                    <a:pt x="152400" y="1474343"/>
                  </a:lnTo>
                  <a:cubicBezTo>
                    <a:pt x="152400" y="1497584"/>
                    <a:pt x="133477" y="1516507"/>
                    <a:pt x="110236" y="1516507"/>
                  </a:cubicBezTo>
                  <a:lnTo>
                    <a:pt x="42164" y="1516507"/>
                  </a:lnTo>
                  <a:cubicBezTo>
                    <a:pt x="18923" y="1516507"/>
                    <a:pt x="0" y="1497584"/>
                    <a:pt x="0" y="1474343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724334" y="7258945"/>
            <a:ext cx="2963018" cy="34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Reduced hallucinations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53973" y="8318449"/>
            <a:ext cx="4048868" cy="1165917"/>
            <a:chOff x="0" y="0"/>
            <a:chExt cx="5398491" cy="15545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9050" y="19050"/>
              <a:ext cx="5360416" cy="1516507"/>
            </a:xfrm>
            <a:custGeom>
              <a:avLst/>
              <a:gdLst/>
              <a:ahLst/>
              <a:cxnLst/>
              <a:rect r="r" b="b" t="t" l="l"/>
              <a:pathLst>
                <a:path h="1516507" w="5360416">
                  <a:moveTo>
                    <a:pt x="0" y="182880"/>
                  </a:moveTo>
                  <a:cubicBezTo>
                    <a:pt x="0" y="81915"/>
                    <a:pt x="83312" y="0"/>
                    <a:pt x="186182" y="0"/>
                  </a:cubicBezTo>
                  <a:lnTo>
                    <a:pt x="5174234" y="0"/>
                  </a:lnTo>
                  <a:cubicBezTo>
                    <a:pt x="5277104" y="0"/>
                    <a:pt x="5360416" y="81915"/>
                    <a:pt x="5360416" y="182880"/>
                  </a:cubicBezTo>
                  <a:lnTo>
                    <a:pt x="5360416" y="1333627"/>
                  </a:lnTo>
                  <a:cubicBezTo>
                    <a:pt x="5360416" y="1434592"/>
                    <a:pt x="5277104" y="1516507"/>
                    <a:pt x="5174234" y="1516507"/>
                  </a:cubicBezTo>
                  <a:lnTo>
                    <a:pt x="186182" y="1516507"/>
                  </a:lnTo>
                  <a:cubicBezTo>
                    <a:pt x="83312" y="1516507"/>
                    <a:pt x="0" y="1434592"/>
                    <a:pt x="0" y="13336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98516" cy="1554607"/>
            </a:xfrm>
            <a:custGeom>
              <a:avLst/>
              <a:gdLst/>
              <a:ahLst/>
              <a:cxnLst/>
              <a:rect r="r" b="b" t="t" l="l"/>
              <a:pathLst>
                <a:path h="1554607" w="5398516">
                  <a:moveTo>
                    <a:pt x="0" y="201930"/>
                  </a:moveTo>
                  <a:cubicBezTo>
                    <a:pt x="0" y="90043"/>
                    <a:pt x="92202" y="0"/>
                    <a:pt x="205232" y="0"/>
                  </a:cubicBezTo>
                  <a:lnTo>
                    <a:pt x="5193284" y="0"/>
                  </a:lnTo>
                  <a:lnTo>
                    <a:pt x="5193284" y="19050"/>
                  </a:lnTo>
                  <a:lnTo>
                    <a:pt x="5193284" y="0"/>
                  </a:lnTo>
                  <a:cubicBezTo>
                    <a:pt x="5306314" y="0"/>
                    <a:pt x="5398516" y="90043"/>
                    <a:pt x="5398516" y="201930"/>
                  </a:cubicBezTo>
                  <a:lnTo>
                    <a:pt x="5379466" y="201930"/>
                  </a:lnTo>
                  <a:lnTo>
                    <a:pt x="5398516" y="201930"/>
                  </a:lnTo>
                  <a:lnTo>
                    <a:pt x="5398516" y="1352677"/>
                  </a:lnTo>
                  <a:lnTo>
                    <a:pt x="5379466" y="1352677"/>
                  </a:lnTo>
                  <a:lnTo>
                    <a:pt x="5398516" y="1352677"/>
                  </a:lnTo>
                  <a:cubicBezTo>
                    <a:pt x="5398516" y="1464564"/>
                    <a:pt x="5306314" y="1554607"/>
                    <a:pt x="5193284" y="1554607"/>
                  </a:cubicBezTo>
                  <a:lnTo>
                    <a:pt x="5193284" y="1535557"/>
                  </a:lnTo>
                  <a:lnTo>
                    <a:pt x="5193284" y="1554607"/>
                  </a:lnTo>
                  <a:lnTo>
                    <a:pt x="205232" y="1554607"/>
                  </a:lnTo>
                  <a:lnTo>
                    <a:pt x="205232" y="1535557"/>
                  </a:lnTo>
                  <a:lnTo>
                    <a:pt x="205232" y="1554607"/>
                  </a:lnTo>
                  <a:cubicBezTo>
                    <a:pt x="92202" y="1554607"/>
                    <a:pt x="0" y="1464564"/>
                    <a:pt x="0" y="1352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352677"/>
                  </a:lnTo>
                  <a:lnTo>
                    <a:pt x="19050" y="1352677"/>
                  </a:lnTo>
                  <a:lnTo>
                    <a:pt x="38100" y="1352677"/>
                  </a:lnTo>
                  <a:cubicBezTo>
                    <a:pt x="38100" y="1442847"/>
                    <a:pt x="112649" y="1516507"/>
                    <a:pt x="205232" y="1516507"/>
                  </a:cubicBezTo>
                  <a:lnTo>
                    <a:pt x="5193284" y="1516507"/>
                  </a:lnTo>
                  <a:cubicBezTo>
                    <a:pt x="5285867" y="1516507"/>
                    <a:pt x="5360416" y="1442847"/>
                    <a:pt x="5360416" y="1352677"/>
                  </a:cubicBezTo>
                  <a:lnTo>
                    <a:pt x="5360416" y="201930"/>
                  </a:lnTo>
                  <a:cubicBezTo>
                    <a:pt x="5360416" y="111760"/>
                    <a:pt x="5285867" y="38100"/>
                    <a:pt x="5193284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649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39686" y="8332737"/>
            <a:ext cx="114300" cy="1137342"/>
            <a:chOff x="0" y="0"/>
            <a:chExt cx="152400" cy="15164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2400" cy="1516507"/>
            </a:xfrm>
            <a:custGeom>
              <a:avLst/>
              <a:gdLst/>
              <a:ahLst/>
              <a:cxnLst/>
              <a:rect r="r" b="b" t="t" l="l"/>
              <a:pathLst>
                <a:path h="1516507" w="152400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110236" y="0"/>
                  </a:lnTo>
                  <a:cubicBezTo>
                    <a:pt x="133477" y="0"/>
                    <a:pt x="152400" y="18923"/>
                    <a:pt x="152400" y="42164"/>
                  </a:cubicBezTo>
                  <a:lnTo>
                    <a:pt x="152400" y="1474343"/>
                  </a:lnTo>
                  <a:cubicBezTo>
                    <a:pt x="152400" y="1497584"/>
                    <a:pt x="133477" y="1516507"/>
                    <a:pt x="110236" y="1516507"/>
                  </a:cubicBezTo>
                  <a:lnTo>
                    <a:pt x="42164" y="1516507"/>
                  </a:lnTo>
                  <a:cubicBezTo>
                    <a:pt x="18923" y="1516507"/>
                    <a:pt x="0" y="1497584"/>
                    <a:pt x="0" y="1474343"/>
                  </a:cubicBez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93302" y="8553002"/>
            <a:ext cx="3455937" cy="67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Better repository awareness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6760" y="832247"/>
            <a:ext cx="11536261" cy="85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2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Challenges, Solutions &amp; Future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6760" y="2309222"/>
            <a:ext cx="3653285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 &amp; Solutions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1998" y="2997546"/>
            <a:ext cx="7853362" cy="4521994"/>
            <a:chOff x="0" y="0"/>
            <a:chExt cx="10471150" cy="60293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71150" cy="6029198"/>
            </a:xfrm>
            <a:custGeom>
              <a:avLst/>
              <a:gdLst/>
              <a:ahLst/>
              <a:cxnLst/>
              <a:rect r="r" b="b" t="t" l="l"/>
              <a:pathLst>
                <a:path h="6029198" w="10471150">
                  <a:moveTo>
                    <a:pt x="0" y="59309"/>
                  </a:moveTo>
                  <a:cubicBezTo>
                    <a:pt x="0" y="26543"/>
                    <a:pt x="26543" y="0"/>
                    <a:pt x="59436" y="0"/>
                  </a:cubicBezTo>
                  <a:lnTo>
                    <a:pt x="10411714" y="0"/>
                  </a:lnTo>
                  <a:lnTo>
                    <a:pt x="10411714" y="6350"/>
                  </a:lnTo>
                  <a:lnTo>
                    <a:pt x="10411714" y="0"/>
                  </a:lnTo>
                  <a:cubicBezTo>
                    <a:pt x="10444480" y="0"/>
                    <a:pt x="10471150" y="26543"/>
                    <a:pt x="10471150" y="59309"/>
                  </a:cubicBezTo>
                  <a:lnTo>
                    <a:pt x="10464800" y="59309"/>
                  </a:lnTo>
                  <a:lnTo>
                    <a:pt x="10471150" y="59309"/>
                  </a:lnTo>
                  <a:lnTo>
                    <a:pt x="10471150" y="5969889"/>
                  </a:lnTo>
                  <a:lnTo>
                    <a:pt x="10464800" y="5969889"/>
                  </a:lnTo>
                  <a:lnTo>
                    <a:pt x="10471150" y="5969889"/>
                  </a:lnTo>
                  <a:cubicBezTo>
                    <a:pt x="10471150" y="6002655"/>
                    <a:pt x="10444607" y="6029198"/>
                    <a:pt x="10411714" y="6029198"/>
                  </a:cubicBezTo>
                  <a:lnTo>
                    <a:pt x="10411714" y="6022848"/>
                  </a:lnTo>
                  <a:lnTo>
                    <a:pt x="10411714" y="6029198"/>
                  </a:lnTo>
                  <a:lnTo>
                    <a:pt x="59436" y="6029198"/>
                  </a:lnTo>
                  <a:lnTo>
                    <a:pt x="59436" y="6022848"/>
                  </a:lnTo>
                  <a:lnTo>
                    <a:pt x="59436" y="6029198"/>
                  </a:lnTo>
                  <a:cubicBezTo>
                    <a:pt x="26670" y="6029198"/>
                    <a:pt x="0" y="6002655"/>
                    <a:pt x="0" y="5969889"/>
                  </a:cubicBezTo>
                  <a:lnTo>
                    <a:pt x="0" y="59309"/>
                  </a:lnTo>
                  <a:lnTo>
                    <a:pt x="6350" y="59309"/>
                  </a:lnTo>
                  <a:lnTo>
                    <a:pt x="0" y="59309"/>
                  </a:lnTo>
                  <a:moveTo>
                    <a:pt x="12700" y="59309"/>
                  </a:moveTo>
                  <a:lnTo>
                    <a:pt x="12700" y="5969889"/>
                  </a:lnTo>
                  <a:lnTo>
                    <a:pt x="6350" y="5969889"/>
                  </a:lnTo>
                  <a:lnTo>
                    <a:pt x="12700" y="5969889"/>
                  </a:lnTo>
                  <a:cubicBezTo>
                    <a:pt x="12700" y="5995670"/>
                    <a:pt x="33655" y="6016498"/>
                    <a:pt x="59436" y="6016498"/>
                  </a:cubicBezTo>
                  <a:lnTo>
                    <a:pt x="10411714" y="6016498"/>
                  </a:lnTo>
                  <a:cubicBezTo>
                    <a:pt x="10437495" y="6016498"/>
                    <a:pt x="10458450" y="5995543"/>
                    <a:pt x="10458450" y="5969889"/>
                  </a:cubicBezTo>
                  <a:lnTo>
                    <a:pt x="10458450" y="59309"/>
                  </a:lnTo>
                  <a:cubicBezTo>
                    <a:pt x="10458450" y="33528"/>
                    <a:pt x="10437495" y="12700"/>
                    <a:pt x="10411714" y="12700"/>
                  </a:cubicBezTo>
                  <a:lnTo>
                    <a:pt x="59436" y="12700"/>
                  </a:lnTo>
                  <a:lnTo>
                    <a:pt x="59436" y="6350"/>
                  </a:lnTo>
                  <a:lnTo>
                    <a:pt x="59436" y="12700"/>
                  </a:lnTo>
                  <a:cubicBezTo>
                    <a:pt x="33655" y="12700"/>
                    <a:pt x="12700" y="33655"/>
                    <a:pt x="12700" y="5930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51347" y="3084319"/>
            <a:ext cx="337750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Challenge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68503" y="3084319"/>
            <a:ext cx="337750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1347" y="3820716"/>
            <a:ext cx="337750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GPU memory limits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68503" y="3820716"/>
            <a:ext cx="3377508" cy="90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LoRA / QLoRA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1347" y="4967583"/>
            <a:ext cx="337750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Noisy datasets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68503" y="4967583"/>
            <a:ext cx="337750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Focused dataset curation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1347" y="5703989"/>
            <a:ext cx="337750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Overfitting risks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68503" y="5703989"/>
            <a:ext cx="3377508" cy="90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Prompt engineering + regularization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1347" y="6850856"/>
            <a:ext cx="337750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Inconsistent outputs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68503" y="6850856"/>
            <a:ext cx="337750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Iterative evaluation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76927" y="2309222"/>
            <a:ext cx="3441802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Improvements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76927" y="3002309"/>
            <a:ext cx="530276" cy="331289"/>
            <a:chOff x="0" y="0"/>
            <a:chExt cx="707034" cy="4417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032" cy="441723"/>
            </a:xfrm>
            <a:custGeom>
              <a:avLst/>
              <a:gdLst/>
              <a:ahLst/>
              <a:cxnLst/>
              <a:rect r="r" b="b" t="t" l="l"/>
              <a:pathLst>
                <a:path h="441723" w="707032">
                  <a:moveTo>
                    <a:pt x="0" y="0"/>
                  </a:moveTo>
                  <a:lnTo>
                    <a:pt x="707032" y="0"/>
                  </a:lnTo>
                  <a:lnTo>
                    <a:pt x="707032" y="441723"/>
                  </a:lnTo>
                  <a:lnTo>
                    <a:pt x="0" y="4417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57" t="0" r="-3015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07034" cy="451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76927" y="3424238"/>
            <a:ext cx="7843838" cy="28575"/>
            <a:chOff x="0" y="0"/>
            <a:chExt cx="1045845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58450" cy="38100"/>
            </a:xfrm>
            <a:custGeom>
              <a:avLst/>
              <a:gdLst/>
              <a:ahLst/>
              <a:cxnLst/>
              <a:rect r="r" b="b" t="t" l="l"/>
              <a:pathLst>
                <a:path h="381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476927" y="3613842"/>
            <a:ext cx="3314252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RAG Integration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76927" y="4190257"/>
            <a:ext cx="784383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Retrieval-Augmented Generation for richer context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76927" y="5133232"/>
            <a:ext cx="530276" cy="331289"/>
            <a:chOff x="0" y="0"/>
            <a:chExt cx="707034" cy="4417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7032" cy="441723"/>
            </a:xfrm>
            <a:custGeom>
              <a:avLst/>
              <a:gdLst/>
              <a:ahLst/>
              <a:cxnLst/>
              <a:rect r="r" b="b" t="t" l="l"/>
              <a:pathLst>
                <a:path h="441723" w="707032">
                  <a:moveTo>
                    <a:pt x="0" y="0"/>
                  </a:moveTo>
                  <a:lnTo>
                    <a:pt x="707032" y="0"/>
                  </a:lnTo>
                  <a:lnTo>
                    <a:pt x="707032" y="441723"/>
                  </a:lnTo>
                  <a:lnTo>
                    <a:pt x="0" y="4417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57" t="0" r="-3015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07034" cy="451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76927" y="5555161"/>
            <a:ext cx="7843838" cy="28575"/>
            <a:chOff x="0" y="0"/>
            <a:chExt cx="10458450" cy="38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58450" cy="38100"/>
            </a:xfrm>
            <a:custGeom>
              <a:avLst/>
              <a:gdLst/>
              <a:ahLst/>
              <a:cxnLst/>
              <a:rect r="r" b="b" t="t" l="l"/>
              <a:pathLst>
                <a:path h="381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476927" y="5744766"/>
            <a:ext cx="3418284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Tool &amp; API Integration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76927" y="6321181"/>
            <a:ext cx="784383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External tools, web interface, API deployment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476927" y="7264156"/>
            <a:ext cx="530276" cy="331289"/>
            <a:chOff x="0" y="0"/>
            <a:chExt cx="707034" cy="4417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7032" cy="441723"/>
            </a:xfrm>
            <a:custGeom>
              <a:avLst/>
              <a:gdLst/>
              <a:ahLst/>
              <a:cxnLst/>
              <a:rect r="r" b="b" t="t" l="l"/>
              <a:pathLst>
                <a:path h="441723" w="707032">
                  <a:moveTo>
                    <a:pt x="0" y="0"/>
                  </a:moveTo>
                  <a:lnTo>
                    <a:pt x="707032" y="0"/>
                  </a:lnTo>
                  <a:lnTo>
                    <a:pt x="707032" y="441723"/>
                  </a:lnTo>
                  <a:lnTo>
                    <a:pt x="0" y="4417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57" t="0" r="-3015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707034" cy="451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64646"/>
                  </a:solidFill>
                  <a:latin typeface="DM Sans"/>
                  <a:ea typeface="DM Sans"/>
                  <a:cs typeface="DM Sans"/>
                  <a:sym typeface="DM Sans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76927" y="7686084"/>
            <a:ext cx="7843838" cy="28575"/>
            <a:chOff x="0" y="0"/>
            <a:chExt cx="10458450" cy="38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58450" cy="38100"/>
            </a:xfrm>
            <a:custGeom>
              <a:avLst/>
              <a:gdLst/>
              <a:ahLst/>
              <a:cxnLst/>
              <a:rect r="r" b="b" t="t" l="l"/>
              <a:pathLst>
                <a:path h="381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C9770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476927" y="7875689"/>
            <a:ext cx="4392368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Advanced Agent Workflows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76927" y="8452094"/>
            <a:ext cx="7843838" cy="4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Better repo retrieval and multi-step reasoning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008612"/>
            <a:ext cx="5670652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0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1979857"/>
            <a:ext cx="9445523" cy="69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Small LLMs combined with </a:t>
            </a: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LoRA/PEFT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can become efficient, affordable AI coding assistants — no expensive cloud required.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50238" y="2875064"/>
            <a:ext cx="9445523" cy="1243308"/>
            <a:chOff x="0" y="0"/>
            <a:chExt cx="12594031" cy="16577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3955" cy="1657731"/>
            </a:xfrm>
            <a:custGeom>
              <a:avLst/>
              <a:gdLst/>
              <a:ahLst/>
              <a:cxnLst/>
              <a:rect r="r" b="b" t="t" l="l"/>
              <a:pathLst>
                <a:path h="1657731" w="12593955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2548616" y="0"/>
                  </a:lnTo>
                  <a:cubicBezTo>
                    <a:pt x="12573635" y="0"/>
                    <a:pt x="12593955" y="20320"/>
                    <a:pt x="12593955" y="45339"/>
                  </a:cubicBezTo>
                  <a:lnTo>
                    <a:pt x="12593955" y="1612392"/>
                  </a:lnTo>
                  <a:cubicBezTo>
                    <a:pt x="12593955" y="1637411"/>
                    <a:pt x="12573635" y="1657731"/>
                    <a:pt x="12548616" y="1657731"/>
                  </a:cubicBezTo>
                  <a:lnTo>
                    <a:pt x="45339" y="1657731"/>
                  </a:lnTo>
                  <a:cubicBezTo>
                    <a:pt x="20320" y="1657731"/>
                    <a:pt x="0" y="1637411"/>
                    <a:pt x="0" y="161239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77048" y="3082823"/>
            <a:ext cx="2835326" cy="37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Lower Cost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77048" y="3526927"/>
            <a:ext cx="8991895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Reduced computational overhead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850238" y="4299795"/>
            <a:ext cx="9445523" cy="1243308"/>
            <a:chOff x="0" y="0"/>
            <a:chExt cx="12594031" cy="16577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93955" cy="1657731"/>
            </a:xfrm>
            <a:custGeom>
              <a:avLst/>
              <a:gdLst/>
              <a:ahLst/>
              <a:cxnLst/>
              <a:rect r="r" b="b" t="t" l="l"/>
              <a:pathLst>
                <a:path h="1657731" w="12593955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2548616" y="0"/>
                  </a:lnTo>
                  <a:cubicBezTo>
                    <a:pt x="12573635" y="0"/>
                    <a:pt x="12593955" y="20320"/>
                    <a:pt x="12593955" y="45339"/>
                  </a:cubicBezTo>
                  <a:lnTo>
                    <a:pt x="12593955" y="1612392"/>
                  </a:lnTo>
                  <a:cubicBezTo>
                    <a:pt x="12593955" y="1637411"/>
                    <a:pt x="12573635" y="1657731"/>
                    <a:pt x="12548616" y="1657731"/>
                  </a:cubicBezTo>
                  <a:lnTo>
                    <a:pt x="45339" y="1657731"/>
                  </a:lnTo>
                  <a:cubicBezTo>
                    <a:pt x="20320" y="1657731"/>
                    <a:pt x="0" y="1637411"/>
                    <a:pt x="0" y="161239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077048" y="4507554"/>
            <a:ext cx="2835326" cy="37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Better 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77048" y="4951657"/>
            <a:ext cx="8991895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Improved coding-task quality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50238" y="5724525"/>
            <a:ext cx="9445523" cy="1243308"/>
            <a:chOff x="0" y="0"/>
            <a:chExt cx="12594031" cy="16577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93955" cy="1657731"/>
            </a:xfrm>
            <a:custGeom>
              <a:avLst/>
              <a:gdLst/>
              <a:ahLst/>
              <a:cxnLst/>
              <a:rect r="r" b="b" t="t" l="l"/>
              <a:pathLst>
                <a:path h="1657731" w="12593955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2548616" y="0"/>
                  </a:lnTo>
                  <a:cubicBezTo>
                    <a:pt x="12573635" y="0"/>
                    <a:pt x="12593955" y="20320"/>
                    <a:pt x="12593955" y="45339"/>
                  </a:cubicBezTo>
                  <a:lnTo>
                    <a:pt x="12593955" y="1612392"/>
                  </a:lnTo>
                  <a:cubicBezTo>
                    <a:pt x="12593955" y="1637411"/>
                    <a:pt x="12573635" y="1657731"/>
                    <a:pt x="12548616" y="1657731"/>
                  </a:cubicBezTo>
                  <a:lnTo>
                    <a:pt x="45339" y="1657731"/>
                  </a:lnTo>
                  <a:cubicBezTo>
                    <a:pt x="20320" y="1657731"/>
                    <a:pt x="0" y="1637411"/>
                    <a:pt x="0" y="161239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077048" y="5932294"/>
            <a:ext cx="2835326" cy="37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Local Deployment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77048" y="6376387"/>
            <a:ext cx="8991895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Runs on limited hardware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50238" y="7149255"/>
            <a:ext cx="9445523" cy="1243308"/>
            <a:chOff x="0" y="0"/>
            <a:chExt cx="12594031" cy="16577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93955" cy="1657731"/>
            </a:xfrm>
            <a:custGeom>
              <a:avLst/>
              <a:gdLst/>
              <a:ahLst/>
              <a:cxnLst/>
              <a:rect r="r" b="b" t="t" l="l"/>
              <a:pathLst>
                <a:path h="1657731" w="12593955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2548616" y="0"/>
                  </a:lnTo>
                  <a:cubicBezTo>
                    <a:pt x="12573635" y="0"/>
                    <a:pt x="12593955" y="20320"/>
                    <a:pt x="12593955" y="45339"/>
                  </a:cubicBezTo>
                  <a:lnTo>
                    <a:pt x="12593955" y="1612392"/>
                  </a:lnTo>
                  <a:cubicBezTo>
                    <a:pt x="12593955" y="1637411"/>
                    <a:pt x="12573635" y="1657731"/>
                    <a:pt x="12548616" y="1657731"/>
                  </a:cubicBezTo>
                  <a:lnTo>
                    <a:pt x="45339" y="1657731"/>
                  </a:lnTo>
                  <a:cubicBezTo>
                    <a:pt x="20320" y="1657731"/>
                    <a:pt x="0" y="1637411"/>
                    <a:pt x="0" y="161239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077048" y="7357024"/>
            <a:ext cx="2835326" cy="37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Practical AI Dev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77048" y="7801127"/>
            <a:ext cx="8991895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Real-world assisted development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50238" y="8558508"/>
            <a:ext cx="9445523" cy="69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References:</a:t>
            </a:r>
            <a:r>
              <a:rPr lang="en-US" sz="17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LoRA · QLoRA · Attention Is All You Need · Hugging Face Transformers · PEFT · PyTorch · LangChain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DAHJeLZClN0</dc:identifier>
  <dcterms:modified xsi:type="dcterms:W3CDTF">2011-08-01T06:04:30Z</dcterms:modified>
  <cp:revision>1</cp:revision>
  <dc:title>G17-Fine-Tune-a-Small-LLM-with-LoRAPEFT-Simple-Agent.pptx</dc:title>
</cp:coreProperties>
</file>